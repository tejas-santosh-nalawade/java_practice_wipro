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3" d="100"/>
          <a:sy n="93" d="100"/>
        </p:scale>
        <p:origin x="202" y="-7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3430-7757-4BBD-B41B-E49E0440BC9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142A2-2D08-4429-A6B6-5932211C6A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A142A2-2D08-4429-A6B6-5932211C6A6E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A142A2-2D08-4429-A6B6-5932211C6A6E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D1DE-D7A4-DD48-B8E1-676B660DC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E5CF0-564C-36DC-AFBF-170430D5E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B4D20-3232-6A9D-160F-00A2E84D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63CEC-37A2-AC67-4F5C-7FC6E1A7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BC293-ADD2-2AC8-37CA-E4C2450D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31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F55A6-8A2A-B1C2-02A2-3739E4C3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BF6C-9B23-CEE5-5770-0563403D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924C-E55E-5AF6-C874-55027092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A1C55-CC8B-4A06-E400-C7F0AD9E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CFBB-E2ED-CC86-07C2-D77F05E4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18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7DA9-32E4-FFAA-9C4F-E16477CF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2829F-0D14-EA33-04BF-3BA6E1A5D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707A9-672C-6E0C-9268-06D4A2F8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AD719-0637-D5E1-A6DB-3E07A76F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8CD7-E1A3-0582-FD8B-B2F3DC61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6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9B1F-EB93-541B-C5D1-D9D0FC94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367C-9DC3-56A8-8856-426F4823A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7A2D4-6A6A-E9E2-9CEB-91F4E186A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DE931-DBEF-4DFD-495A-9AEFE2B47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FDDEC-766E-F25C-1A22-F9F27D93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85356-9C6B-0976-96F1-F5F028E7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52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252F-5894-18C7-120E-15A15696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A885D-4F98-26E8-BEF4-783DA199B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36BD9-1442-9294-9E18-F687D64E9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6003C-CD36-9481-551B-8BDF1F455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D1776-06E7-BDBA-FD04-5EBB157C5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23FFD-CDDC-30AA-BD58-220C8DCA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25B2C-6C76-4637-0772-3DD51AA5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51EFF-718B-D97F-3B3B-0E43317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45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1506-2ABA-64B6-7F3D-1B765AB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162CA-CB2C-524C-4165-EA2E3C78F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81F4-71D3-3324-2819-75106A1F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050E4-71CC-D722-8A83-23E213A9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7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E3971-2C63-4175-5972-50D59F5D8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26840-2401-9A0F-D7B2-46F35968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33AB8-C167-9747-2F75-58A82190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53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A81C-C2F1-2C52-097A-5B3BCA38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F1144-DF4F-2DD8-0C14-6AB9FCA2F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AFDB8-B083-5A93-10D8-6B7D51CB0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D3956-F74B-4C51-592B-9F4F8FE2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285D1-D0DE-0DF1-DA81-97616662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754A6-1CAD-6C7A-328F-48A3CE9A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6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31AC-3FBD-F5A1-5EDF-F7D2B51CF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18A36-D3E5-3983-1DCA-30CA6FA52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3FD5B-0F7C-A8BA-EAD3-84B9A96E9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34327-4ABD-7F2E-C0FA-95397645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98FEF-E9B2-2D73-C6AB-07B7096F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1EFB5-640E-2863-403C-A1539408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05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5255-1DF6-0079-E1DA-9034211A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D11C9-AF9A-8265-A447-5C8EE192B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3C8F3-DBCF-1EE2-05E4-3F71F9C4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0A60-C761-C6B8-98F9-4ADA625B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2FBB0-09AC-7FAF-4E76-B6C4C70B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2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079D8-D714-0587-415F-C2BDFCD89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7C925-8F5A-1E0A-13B4-A6FC3E409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903E2-39C0-1BAC-99A7-67BCD6D4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3838B-8DEA-0FE5-2AC1-81485883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E1452-A848-27C9-5627-469C5699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6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5E96C-F062-EC45-BFC1-83E8DBEF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447A5-DBB9-37AA-DEEB-CD49564E5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9203-4964-39C1-9964-5BF4AFB28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C3D50-4D41-49B3-8D35-4F12C1DF3DA9}" type="datetimeFigureOut">
              <a:rPr lang="en-IN" smtClean="0"/>
              <a:pPr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BD323-C11C-8B43-6AA2-16FFB8251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F2E77-476C-8F66-BF39-90395399E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86320-B9E3-4A34-AFEC-14F0321B07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9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D421-DC12-1092-629F-C449F75A3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Multithreading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09AD0-7424-EB90-F892-BE3C0CA02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78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01B8-9BD6-9260-C7DD-8DDDEE46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Multithreading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26BF-7B09-2118-7E70-C601D0A31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Process:</a:t>
            </a:r>
          </a:p>
          <a:p>
            <a:pPr lvl="1"/>
            <a:r>
              <a:rPr lang="en-US" dirty="0"/>
              <a:t>A </a:t>
            </a:r>
            <a:r>
              <a:rPr lang="en-US" b="1" dirty="0"/>
              <a:t>process</a:t>
            </a:r>
            <a:r>
              <a:rPr lang="en-US" dirty="0"/>
              <a:t> is an </a:t>
            </a:r>
            <a:r>
              <a:rPr lang="en-US" b="1" dirty="0"/>
              <a:t>active program</a:t>
            </a:r>
            <a:r>
              <a:rPr lang="en-US" dirty="0"/>
              <a:t>, i.e., a program that is under execution.</a:t>
            </a:r>
          </a:p>
          <a:p>
            <a:r>
              <a:rPr lang="en-US" b="1" dirty="0"/>
              <a:t>Thread:</a:t>
            </a:r>
          </a:p>
          <a:p>
            <a:pPr lvl="1"/>
            <a:r>
              <a:rPr lang="en-US" dirty="0"/>
              <a:t>Thread is the </a:t>
            </a:r>
            <a:r>
              <a:rPr lang="en-US" b="1" dirty="0"/>
              <a:t>segment of a process.</a:t>
            </a:r>
          </a:p>
          <a:p>
            <a:pPr lvl="1"/>
            <a:r>
              <a:rPr lang="en-US" dirty="0"/>
              <a:t>It is also called as </a:t>
            </a:r>
            <a:r>
              <a:rPr lang="en-US" b="1" dirty="0"/>
              <a:t>light weight process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process can have multiple threads</a:t>
            </a:r>
            <a:r>
              <a:rPr lang="en-US" dirty="0"/>
              <a:t> and these multiple threads are contained within a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40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092D-1E5C-D843-BBCF-EDA801AD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Multitasking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7E79-256B-4C41-3F6F-82254158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Ability to execute two or more tasks in parallel </a:t>
            </a:r>
            <a:r>
              <a:rPr lang="en-US" dirty="0"/>
              <a:t>or simultaneously is known as </a:t>
            </a:r>
            <a:r>
              <a:rPr lang="en-US" b="1" dirty="0"/>
              <a:t>multitasking</a:t>
            </a:r>
            <a:r>
              <a:rPr lang="en-US" dirty="0"/>
              <a:t>. </a:t>
            </a:r>
          </a:p>
          <a:p>
            <a:r>
              <a:rPr lang="en-US" dirty="0"/>
              <a:t>Multitasking is of two types: </a:t>
            </a:r>
          </a:p>
          <a:p>
            <a:pPr lvl="1"/>
            <a:r>
              <a:rPr lang="en-US" b="1" dirty="0"/>
              <a:t>1)</a:t>
            </a:r>
            <a:r>
              <a:rPr lang="en-US" dirty="0"/>
              <a:t> </a:t>
            </a:r>
            <a:r>
              <a:rPr lang="en-US" b="1" dirty="0"/>
              <a:t>Process based multitasking and </a:t>
            </a:r>
          </a:p>
          <a:p>
            <a:pPr lvl="1"/>
            <a:r>
              <a:rPr lang="en-US" b="1" dirty="0"/>
              <a:t>2) Thread based multitasking.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44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EBE6-1135-44CE-6E65-8194268E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Process based multitasking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2471-9184-726C-9AD6-1441899E4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Process based multitasking:</a:t>
            </a:r>
            <a:r>
              <a:rPr lang="en-US" dirty="0"/>
              <a:t> </a:t>
            </a:r>
          </a:p>
          <a:p>
            <a:pPr lvl="1"/>
            <a:r>
              <a:rPr lang="en-US" b="1" dirty="0"/>
              <a:t>Executing two or more processes simultaneously </a:t>
            </a:r>
            <a:r>
              <a:rPr lang="en-US" dirty="0"/>
              <a:t>is known as process based multitasking. </a:t>
            </a:r>
          </a:p>
          <a:p>
            <a:pPr lvl="1"/>
            <a:r>
              <a:rPr lang="en-US" b="1" dirty="0"/>
              <a:t>For example</a:t>
            </a:r>
            <a:r>
              <a:rPr lang="en-US" dirty="0"/>
              <a:t>, we can listen to music and browse internet at the same time. </a:t>
            </a:r>
          </a:p>
          <a:p>
            <a:pPr lvl="1"/>
            <a:r>
              <a:rPr lang="en-US" dirty="0"/>
              <a:t>The processes in this example are the </a:t>
            </a:r>
            <a:r>
              <a:rPr lang="en-US" b="1" dirty="0"/>
              <a:t>music player </a:t>
            </a:r>
            <a:r>
              <a:rPr lang="en-US" dirty="0"/>
              <a:t>and </a:t>
            </a:r>
            <a:r>
              <a:rPr lang="en-US" b="1" dirty="0"/>
              <a:t>browser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96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7563-AC4F-F5C7-B6AF-3C017492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Thread based multitasking: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652B-BE18-3027-3FEE-D49401C7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Thread based multitasking: </a:t>
            </a:r>
          </a:p>
          <a:p>
            <a:pPr lvl="1"/>
            <a:r>
              <a:rPr lang="en-US" dirty="0"/>
              <a:t>If two or more such threads execute simultaneously, it is known as thread based multitasking or </a:t>
            </a:r>
            <a:r>
              <a:rPr lang="en-US" b="1" i="1" dirty="0"/>
              <a:t>multithreading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 For </a:t>
            </a:r>
            <a:r>
              <a:rPr lang="en-US" b="1" dirty="0"/>
              <a:t>example</a:t>
            </a:r>
            <a:r>
              <a:rPr lang="en-US" dirty="0"/>
              <a:t>, using a browser we can </a:t>
            </a:r>
            <a:r>
              <a:rPr lang="en-US" b="1" dirty="0"/>
              <a:t>navigate through the webpage </a:t>
            </a:r>
            <a:r>
              <a:rPr lang="en-US" dirty="0"/>
              <a:t>and at the same time </a:t>
            </a:r>
            <a:r>
              <a:rPr lang="en-US" b="1" dirty="0"/>
              <a:t>download a file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In this example, </a:t>
            </a:r>
            <a:r>
              <a:rPr lang="en-US" b="1" dirty="0"/>
              <a:t>navigation</a:t>
            </a:r>
            <a:r>
              <a:rPr lang="en-US" dirty="0"/>
              <a:t> is one thread and </a:t>
            </a:r>
            <a:r>
              <a:rPr lang="en-US" b="1" dirty="0"/>
              <a:t>downloading</a:t>
            </a:r>
            <a:r>
              <a:rPr lang="en-US" dirty="0"/>
              <a:t> is another thread</a:t>
            </a:r>
          </a:p>
          <a:p>
            <a:pPr lvl="1"/>
            <a:r>
              <a:rPr lang="en-US" dirty="0"/>
              <a:t>Computer Games(race games) are best example of multithreading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30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3DDF-C78C-EF84-F597-4EBB4CA7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Uses of Multithreading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7876-A690-D4DB-524A-786FB93F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multithreaded application performs two or more activities concurrently.</a:t>
            </a:r>
          </a:p>
          <a:p>
            <a:r>
              <a:rPr lang="en-US" dirty="0"/>
              <a:t>Multithreading ca n be used in animations, downloading files, or handling multiple client requests simultaneously.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98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51B7-3A6B-783A-CAA2-A67D8E7A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Life Cycle of Thread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314EBD-57D9-6876-26DB-7373D5114B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51100" y="1879600"/>
            <a:ext cx="764794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2145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C20-3A63-5348-AE28-6247F824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thread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FDBB-0D1A-6304-DA67-2C64BE4B3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There are </a:t>
            </a:r>
            <a:r>
              <a:rPr lang="en-US" sz="3200" b="1" dirty="0"/>
              <a:t>two</a:t>
            </a:r>
            <a:r>
              <a:rPr lang="en-US" sz="3200" dirty="0"/>
              <a:t> ways to create a thread:</a:t>
            </a:r>
          </a:p>
          <a:p>
            <a:pPr lvl="1"/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By extending Thread class</a:t>
            </a:r>
          </a:p>
          <a:p>
            <a:pPr lvl="1"/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By implementing Runnable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9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F542-5F8F-DB45-E504-8FED4AE6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thread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00916-250C-2450-2BEE-EEF4C777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b="1" dirty="0">
                <a:solidFill>
                  <a:schemeClr val="accent3"/>
                </a:solidFill>
              </a:rPr>
              <a:t>By extending Thread class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/>
              <a:t>Thread class provide </a:t>
            </a:r>
            <a:r>
              <a:rPr lang="en-US" sz="2800" b="1" dirty="0"/>
              <a:t>constructors</a:t>
            </a:r>
            <a:r>
              <a:rPr lang="en-US" sz="2800" dirty="0"/>
              <a:t> and </a:t>
            </a:r>
            <a:r>
              <a:rPr lang="en-US" sz="2800" b="1" dirty="0"/>
              <a:t>methods</a:t>
            </a:r>
            <a:r>
              <a:rPr lang="en-US" sz="2800" dirty="0"/>
              <a:t> to create and perform </a:t>
            </a:r>
            <a:r>
              <a:rPr lang="en-US" sz="2800" b="1" dirty="0"/>
              <a:t>operations on a thread.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Create a class that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extends Thread class.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Create instance of  that  class.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class which extends Thread class must override the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run( )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method of Thread class.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It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must call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start( )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begin execution of new thread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72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B0268-84D7-94E8-27FF-239755F2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8E18-92C5-5E3A-F0C7-D1C2107D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thread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127D5-8AB6-5B4D-A74E-C4399BB04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b="1" dirty="0"/>
              <a:t>By extending Thread class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274AC-8114-728F-95E9-A1ECCA6AF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220" y="2527188"/>
            <a:ext cx="6079700" cy="3284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32993-93BA-4EED-1F6F-78C7FB238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950" y="3429001"/>
            <a:ext cx="3001129" cy="107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5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0666-4741-16AE-1B34-9F66B257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AD455-095F-28BC-EB6D-885F36559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b="1" dirty="0"/>
              <a:t>By implementing Runnable interface.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Create a class that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implements Runnable interface.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Create instance of the Thread class.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/>
              <a:t>The class that implements Runnable interface must </a:t>
            </a:r>
            <a:r>
              <a:rPr lang="en-US" sz="2800" b="1" dirty="0"/>
              <a:t>implement the run() method.</a:t>
            </a:r>
            <a:endParaRPr lang="en-US" sz="2800" b="1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It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must call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a typeface="Calibri"/>
                <a:cs typeface="Calibri"/>
                <a:sym typeface="Calibri"/>
              </a:rPr>
              <a:t>start( ) </a:t>
            </a:r>
            <a:r>
              <a:rPr lang="en-US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to begin execution of new thread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86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2141-2D6B-EA3B-8609-9C92403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DDC8-8EC4-0B52-0066-1203A0B9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4150-BF05-C893-70A6-21980D03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b="1" dirty="0"/>
              <a:t>By implementing Runnable interface.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F552B-5DA8-A059-4299-567DDB915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772" y="2707536"/>
            <a:ext cx="6618148" cy="319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1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2141-2D6B-EA3B-8609-9C92403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DDC8-8EC4-0B52-0066-1203A0B9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24150-BF05-C893-70A6-21980D03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Commonly used Thread Methods</a:t>
            </a:r>
          </a:p>
          <a:p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405574"/>
            <a:ext cx="7499350" cy="374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3211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thread has a priority.</a:t>
            </a:r>
          </a:p>
          <a:p>
            <a:r>
              <a:rPr lang="en-US" dirty="0"/>
              <a:t>Priorities are represented by a number between </a:t>
            </a:r>
            <a:r>
              <a:rPr lang="en-US" b="1" dirty="0"/>
              <a:t>1 and 10.</a:t>
            </a:r>
          </a:p>
          <a:p>
            <a:r>
              <a:rPr lang="en-US" dirty="0"/>
              <a:t>In most cases, the </a:t>
            </a:r>
            <a:r>
              <a:rPr lang="en-US" b="1" dirty="0"/>
              <a:t>thread scheduler schedules </a:t>
            </a:r>
            <a:r>
              <a:rPr lang="en-US" dirty="0"/>
              <a:t>the </a:t>
            </a:r>
            <a:r>
              <a:rPr lang="en-US" b="1" dirty="0"/>
              <a:t>threads according to their priority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dirty="0"/>
              <a:t>There are two methods to </a:t>
            </a:r>
            <a:r>
              <a:rPr lang="en-US" sz="2800" b="1" dirty="0"/>
              <a:t>set</a:t>
            </a:r>
            <a:r>
              <a:rPr lang="en-US" sz="2800" dirty="0"/>
              <a:t> and </a:t>
            </a:r>
            <a:r>
              <a:rPr lang="en-US" sz="2800" b="1" dirty="0"/>
              <a:t>get</a:t>
            </a:r>
            <a:r>
              <a:rPr lang="en-US" sz="2800" dirty="0"/>
              <a:t> the priority of thread-</a:t>
            </a:r>
            <a:endParaRPr lang="en-US" sz="2800" b="1" dirty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b="1" dirty="0"/>
              <a:t>setPriority()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400" dirty="0"/>
              <a:t>The</a:t>
            </a:r>
            <a:r>
              <a:rPr lang="en-US" sz="2400" b="1" dirty="0"/>
              <a:t> java.lang.Thread.setPriority() </a:t>
            </a:r>
            <a:r>
              <a:rPr lang="en-US" sz="2400" dirty="0"/>
              <a:t>method </a:t>
            </a:r>
            <a:r>
              <a:rPr lang="en-US" sz="2400" b="1" dirty="0"/>
              <a:t>set </a:t>
            </a:r>
            <a:r>
              <a:rPr lang="en-US" sz="2400" dirty="0"/>
              <a:t>or </a:t>
            </a:r>
            <a:r>
              <a:rPr lang="en-US" sz="2400" b="1" dirty="0"/>
              <a:t>assign the priority of the thread.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800" b="1" dirty="0"/>
              <a:t>getPrioriy()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2400" dirty="0"/>
              <a:t>The </a:t>
            </a:r>
            <a:r>
              <a:rPr lang="en-US" sz="2400" b="1" dirty="0"/>
              <a:t>java.lang.Thread.getPriority() </a:t>
            </a:r>
            <a:r>
              <a:rPr lang="en-US" sz="2400" dirty="0"/>
              <a:t>method </a:t>
            </a:r>
            <a:r>
              <a:rPr lang="en-US" sz="2400" b="1" dirty="0"/>
              <a:t>returns</a:t>
            </a:r>
            <a:r>
              <a:rPr lang="en-US" sz="2400" dirty="0"/>
              <a:t> the </a:t>
            </a:r>
            <a:r>
              <a:rPr lang="en-US" sz="2400" b="1" dirty="0"/>
              <a:t>priority</a:t>
            </a:r>
            <a:r>
              <a:rPr lang="en-US" sz="2400" dirty="0"/>
              <a:t> of the given thread.</a:t>
            </a:r>
            <a:endParaRPr lang="en-US" sz="2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b="1" dirty="0"/>
              <a:t>3 constants </a:t>
            </a:r>
            <a:r>
              <a:rPr lang="en-US" dirty="0"/>
              <a:t>defined in </a:t>
            </a:r>
            <a:r>
              <a:rPr lang="en-US" b="1" dirty="0"/>
              <a:t>Thread class</a:t>
            </a:r>
            <a:r>
              <a:rPr lang="en-US" dirty="0"/>
              <a:t>:</a:t>
            </a:r>
          </a:p>
          <a:p>
            <a:r>
              <a:rPr lang="en-US" dirty="0"/>
              <a:t>public static </a:t>
            </a:r>
            <a:r>
              <a:rPr lang="en-US" dirty="0" err="1"/>
              <a:t>int</a:t>
            </a:r>
            <a:r>
              <a:rPr lang="en-US" dirty="0"/>
              <a:t> MIN_PRIORITY=1</a:t>
            </a:r>
          </a:p>
          <a:p>
            <a:r>
              <a:rPr lang="en-US" dirty="0"/>
              <a:t>public static </a:t>
            </a:r>
            <a:r>
              <a:rPr lang="en-US" dirty="0" err="1"/>
              <a:t>int</a:t>
            </a:r>
            <a:r>
              <a:rPr lang="en-US" dirty="0"/>
              <a:t> NORM_PRIORITY=5</a:t>
            </a:r>
          </a:p>
          <a:p>
            <a:r>
              <a:rPr lang="en-US" dirty="0"/>
              <a:t>public static </a:t>
            </a:r>
            <a:r>
              <a:rPr lang="en-US" dirty="0" err="1"/>
              <a:t>int</a:t>
            </a:r>
            <a:r>
              <a:rPr lang="en-US" dirty="0"/>
              <a:t> MAX_PRIORITY=10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b="1" dirty="0"/>
              <a:t>Example: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209800"/>
            <a:ext cx="7246034" cy="3361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>
            <a:normAutofit/>
          </a:bodyPr>
          <a:lstStyle/>
          <a:p>
            <a:pPr marL="365760" lvl="1" indent="-283464">
              <a:spcBef>
                <a:spcPts val="600"/>
              </a:spcBef>
              <a:buSzPct val="80000"/>
              <a:buNone/>
            </a:pPr>
            <a:endParaRPr lang="en-US" b="1" dirty="0"/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665" y="1516966"/>
            <a:ext cx="8342141" cy="4996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>
            <a:normAutofit/>
          </a:bodyPr>
          <a:lstStyle/>
          <a:p>
            <a:pPr marL="365760" lvl="1" indent="-283464">
              <a:spcBef>
                <a:spcPts val="600"/>
              </a:spcBef>
              <a:buSzPct val="80000"/>
              <a:buNone/>
            </a:pPr>
            <a:r>
              <a:rPr lang="en-US" b="1" dirty="0"/>
              <a:t>Output: 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5888" y="1997613"/>
            <a:ext cx="6314049" cy="2311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two</a:t>
            </a:r>
            <a:r>
              <a:rPr lang="en-US" dirty="0"/>
              <a:t> commonly used methods for </a:t>
            </a:r>
            <a:r>
              <a:rPr lang="en-US" b="1" dirty="0"/>
              <a:t>handling more than one thread </a:t>
            </a:r>
            <a:r>
              <a:rPr lang="en-US" dirty="0"/>
              <a:t>in </a:t>
            </a:r>
            <a:r>
              <a:rPr lang="en-US" b="1" dirty="0"/>
              <a:t>Java</a:t>
            </a:r>
            <a:r>
              <a:rPr lang="en-US" dirty="0"/>
              <a:t>- </a:t>
            </a:r>
          </a:p>
          <a:p>
            <a:pPr lvl="1"/>
            <a:r>
              <a:rPr lang="en-US" b="1" dirty="0" err="1"/>
              <a:t>isAlive</a:t>
            </a:r>
            <a:r>
              <a:rPr lang="en-US" b="1" dirty="0"/>
              <a:t>()</a:t>
            </a:r>
          </a:p>
          <a:p>
            <a:pPr lvl="1"/>
            <a:r>
              <a:rPr lang="en-US" b="1" dirty="0"/>
              <a:t>join()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b="1" dirty="0" err="1"/>
              <a:t>isAlive</a:t>
            </a:r>
            <a:r>
              <a:rPr lang="en-US" sz="2800" b="1" dirty="0"/>
              <a:t>() method:</a:t>
            </a:r>
          </a:p>
          <a:p>
            <a:pPr lvl="2"/>
            <a:r>
              <a:rPr lang="en-US" sz="2400" dirty="0"/>
              <a:t>This method tests </a:t>
            </a:r>
            <a:r>
              <a:rPr lang="en-US" sz="2400" b="1" dirty="0"/>
              <a:t>if the thread is alive</a:t>
            </a:r>
            <a:r>
              <a:rPr lang="en-US" sz="2400" dirty="0"/>
              <a:t>.</a:t>
            </a:r>
          </a:p>
          <a:p>
            <a:pPr lvl="2"/>
            <a:r>
              <a:rPr lang="en-US" sz="2400" dirty="0"/>
              <a:t>A </a:t>
            </a:r>
            <a:r>
              <a:rPr lang="en-US" sz="2400" b="1" dirty="0"/>
              <a:t>thread is considered alive </a:t>
            </a:r>
            <a:r>
              <a:rPr lang="en-US" sz="2400" dirty="0"/>
              <a:t>when the </a:t>
            </a:r>
            <a:r>
              <a:rPr lang="en-US" sz="2400" b="1" dirty="0"/>
              <a:t>start() </a:t>
            </a:r>
            <a:r>
              <a:rPr lang="en-US" sz="2400" dirty="0"/>
              <a:t>method of thread class has been </a:t>
            </a:r>
            <a:r>
              <a:rPr lang="en-US" sz="2400" b="1" dirty="0"/>
              <a:t>called</a:t>
            </a:r>
            <a:r>
              <a:rPr lang="en-US" sz="2400" dirty="0"/>
              <a:t> and the </a:t>
            </a:r>
            <a:r>
              <a:rPr lang="en-US" sz="2400" b="1" dirty="0"/>
              <a:t>thread</a:t>
            </a:r>
            <a:r>
              <a:rPr lang="en-US" sz="2400" dirty="0"/>
              <a:t> is </a:t>
            </a:r>
            <a:r>
              <a:rPr lang="en-US" sz="2400" b="1" dirty="0"/>
              <a:t>not yet dead</a:t>
            </a:r>
            <a:r>
              <a:rPr lang="en-US" sz="2400" dirty="0"/>
              <a:t>. </a:t>
            </a:r>
          </a:p>
          <a:p>
            <a:pPr lvl="2"/>
            <a:r>
              <a:rPr lang="en-US" sz="2400" dirty="0"/>
              <a:t>The primary </a:t>
            </a:r>
            <a:r>
              <a:rPr lang="en-US" sz="2400" b="1" dirty="0"/>
              <a:t>purpose of the </a:t>
            </a:r>
            <a:r>
              <a:rPr lang="en-US" sz="2400" b="1" dirty="0" err="1"/>
              <a:t>isAlive</a:t>
            </a:r>
            <a:r>
              <a:rPr lang="en-US" sz="2400" b="1" dirty="0"/>
              <a:t>() </a:t>
            </a:r>
            <a:r>
              <a:rPr lang="en-US" sz="2400" dirty="0"/>
              <a:t>method is </a:t>
            </a:r>
            <a:r>
              <a:rPr lang="en-US" sz="2400" b="1" dirty="0"/>
              <a:t>to check the status of a thread during runtime</a:t>
            </a:r>
          </a:p>
          <a:p>
            <a:pPr lvl="2"/>
            <a:r>
              <a:rPr lang="en-US" sz="2400" dirty="0"/>
              <a:t>This method will </a:t>
            </a:r>
            <a:r>
              <a:rPr lang="en-US" sz="2400" b="1" dirty="0"/>
              <a:t>return</a:t>
            </a:r>
            <a:r>
              <a:rPr lang="en-US" sz="2400" dirty="0"/>
              <a:t> </a:t>
            </a:r>
            <a:r>
              <a:rPr lang="en-US" sz="2400" b="1" dirty="0"/>
              <a:t>true</a:t>
            </a:r>
            <a:r>
              <a:rPr lang="en-US" sz="2400" dirty="0"/>
              <a:t> if the thread is alive otherwise returns </a:t>
            </a:r>
            <a:r>
              <a:rPr lang="en-US" sz="2400" b="1" dirty="0"/>
              <a:t>false.</a:t>
            </a:r>
          </a:p>
          <a:p>
            <a:pPr lvl="2"/>
            <a:r>
              <a:rPr lang="en-US" sz="2400" b="1" dirty="0"/>
              <a:t>Syntax:    </a:t>
            </a:r>
            <a:r>
              <a:rPr lang="en-US" sz="2400" b="1" dirty="0">
                <a:solidFill>
                  <a:srgbClr val="C00000"/>
                </a:solidFill>
              </a:rPr>
              <a:t>public</a:t>
            </a:r>
            <a:r>
              <a:rPr lang="en-US" sz="2400" dirty="0">
                <a:solidFill>
                  <a:srgbClr val="C00000"/>
                </a:solidFill>
              </a:rPr>
              <a:t> </a:t>
            </a:r>
            <a:r>
              <a:rPr lang="en-US" sz="2400" b="1" dirty="0">
                <a:solidFill>
                  <a:srgbClr val="C00000"/>
                </a:solidFill>
              </a:rPr>
              <a:t>final</a:t>
            </a:r>
            <a:r>
              <a:rPr lang="en-US" sz="2400" dirty="0">
                <a:solidFill>
                  <a:srgbClr val="C00000"/>
                </a:solidFill>
              </a:rPr>
              <a:t> </a:t>
            </a:r>
            <a:r>
              <a:rPr lang="en-US" sz="2400" b="1" dirty="0">
                <a:solidFill>
                  <a:srgbClr val="C00000"/>
                </a:solidFill>
              </a:rPr>
              <a:t>boolean</a:t>
            </a:r>
            <a:r>
              <a:rPr lang="en-US" sz="2400" dirty="0">
                <a:solidFill>
                  <a:srgbClr val="C00000"/>
                </a:solidFill>
              </a:rPr>
              <a:t> </a:t>
            </a:r>
            <a:r>
              <a:rPr lang="en-US" sz="2400" dirty="0" err="1">
                <a:solidFill>
                  <a:srgbClr val="C00000"/>
                </a:solidFill>
              </a:rPr>
              <a:t>isAlive</a:t>
            </a:r>
            <a:r>
              <a:rPr lang="en-US" sz="2400" dirty="0">
                <a:solidFill>
                  <a:srgbClr val="C00000"/>
                </a:solidFill>
              </a:rPr>
              <a:t>()</a:t>
            </a:r>
            <a:endParaRPr lang="en-US" sz="2400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b="1" dirty="0" err="1"/>
              <a:t>isAlive</a:t>
            </a:r>
            <a:r>
              <a:rPr lang="en-US" sz="2800" b="1" dirty="0"/>
              <a:t>() method:</a:t>
            </a:r>
          </a:p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0154" y="2507787"/>
            <a:ext cx="6077243" cy="3428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b="1" dirty="0" err="1"/>
              <a:t>isAlive</a:t>
            </a:r>
            <a:r>
              <a:rPr lang="en-US" sz="2800" b="1" dirty="0"/>
              <a:t>() method: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5575" y="2405574"/>
            <a:ext cx="6316393" cy="382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join() method:</a:t>
            </a:r>
          </a:p>
          <a:p>
            <a:pPr lvl="1"/>
            <a:r>
              <a:rPr lang="en-US" dirty="0"/>
              <a:t>When the </a:t>
            </a:r>
            <a:r>
              <a:rPr lang="en-US" b="1" dirty="0"/>
              <a:t>join() </a:t>
            </a:r>
            <a:r>
              <a:rPr lang="en-US" dirty="0"/>
              <a:t>method is invoked, the </a:t>
            </a:r>
            <a:r>
              <a:rPr lang="en-US" b="1" dirty="0"/>
              <a:t>current thread stops its execution</a:t>
            </a:r>
            <a:r>
              <a:rPr lang="en-US" dirty="0"/>
              <a:t> and the thread goes into the </a:t>
            </a:r>
            <a:r>
              <a:rPr lang="en-US" b="1" dirty="0"/>
              <a:t>wait state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current thread remains in the wait state until the thread on which the join() method is invoked has achieved its dead state.</a:t>
            </a:r>
          </a:p>
          <a:p>
            <a:pPr lvl="1"/>
            <a:r>
              <a:rPr lang="en-US" b="1" dirty="0"/>
              <a:t>Syntax:</a:t>
            </a:r>
          </a:p>
          <a:p>
            <a:pPr lvl="2"/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final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join() </a:t>
            </a:r>
            <a:r>
              <a:rPr lang="en-US" b="1" dirty="0"/>
              <a:t>throws</a:t>
            </a:r>
            <a:r>
              <a:rPr lang="en-US" dirty="0"/>
              <a:t> InterruptedException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join() method: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33378" y="2505074"/>
            <a:ext cx="9017391" cy="3248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Multiple Threads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5582"/>
            <a:ext cx="10515600" cy="4601381"/>
          </a:xfrm>
        </p:spPr>
        <p:txBody>
          <a:bodyPr/>
          <a:lstStyle/>
          <a:p>
            <a:r>
              <a:rPr lang="en-US" b="1" dirty="0"/>
              <a:t>join() method:</a:t>
            </a:r>
          </a:p>
          <a:p>
            <a:endParaRPr 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9794" y="2025748"/>
            <a:ext cx="8455049" cy="437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D39D-413C-F10A-AC22-83A83C0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Synchronization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FB55E-3C65-1F01-31D9-8E7DCD2E8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195"/>
            <a:ext cx="10515600" cy="4784768"/>
          </a:xfrm>
        </p:spPr>
        <p:txBody>
          <a:bodyPr/>
          <a:lstStyle/>
          <a:p>
            <a:r>
              <a:rPr lang="en-US" dirty="0"/>
              <a:t>First create a Counter class: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0E31C7-911E-6E93-38A8-7B16ED864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70" y="2199503"/>
            <a:ext cx="6359611" cy="30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14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A0BC-8BE0-E928-0D06-CA34ADDA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E9B14-9368-858C-7E5C-2FA1838F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Synchronization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FDFD7-D82D-BAD0-1562-9B310063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195"/>
            <a:ext cx="10515600" cy="4784768"/>
          </a:xfrm>
        </p:spPr>
        <p:txBody>
          <a:bodyPr/>
          <a:lstStyle/>
          <a:p>
            <a:r>
              <a:rPr lang="en-US" dirty="0"/>
              <a:t>Then create a </a:t>
            </a:r>
            <a:r>
              <a:rPr lang="en-US" dirty="0" err="1"/>
              <a:t>SynchDemo</a:t>
            </a:r>
            <a:r>
              <a:rPr lang="en-US" dirty="0"/>
              <a:t> class: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4EF12-AC5A-B4C4-A7CC-7C66BCDA5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59" y="2077369"/>
            <a:ext cx="5890045" cy="3749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6B7DA-EA9F-C07C-3B10-163890E4B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617" y="3006710"/>
            <a:ext cx="4755296" cy="2459095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0BCFEE38-E0BC-22E3-694D-FDC3225277F2}"/>
              </a:ext>
            </a:extLst>
          </p:cNvPr>
          <p:cNvCxnSpPr>
            <a:cxnSpLocks/>
          </p:cNvCxnSpPr>
          <p:nvPr/>
        </p:nvCxnSpPr>
        <p:spPr>
          <a:xfrm flipV="1">
            <a:off x="5354594" y="5507613"/>
            <a:ext cx="1482811" cy="6554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87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753</Words>
  <Application>Microsoft Office PowerPoint</Application>
  <PresentationFormat>Widescreen</PresentationFormat>
  <Paragraphs>102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 2</vt:lpstr>
      <vt:lpstr>Office Theme</vt:lpstr>
      <vt:lpstr>Multithreading</vt:lpstr>
      <vt:lpstr>Multithreading</vt:lpstr>
      <vt:lpstr>Multitasking</vt:lpstr>
      <vt:lpstr>Process based multitasking</vt:lpstr>
      <vt:lpstr>Thread based multitasking: </vt:lpstr>
      <vt:lpstr>Uses of Multithreading</vt:lpstr>
      <vt:lpstr>Life Cycle of Thread</vt:lpstr>
      <vt:lpstr>Creating thread</vt:lpstr>
      <vt:lpstr>Creating thread</vt:lpstr>
      <vt:lpstr>Creating thread</vt:lpstr>
      <vt:lpstr>Creating Thread</vt:lpstr>
      <vt:lpstr>Creating Thread</vt:lpstr>
      <vt:lpstr>Creating Thread</vt:lpstr>
      <vt:lpstr>Thread Priorities</vt:lpstr>
      <vt:lpstr>Thread Priorities</vt:lpstr>
      <vt:lpstr>Thread Priorities</vt:lpstr>
      <vt:lpstr>Thread Priorities</vt:lpstr>
      <vt:lpstr>Thread Priorities</vt:lpstr>
      <vt:lpstr>Thread Priorities</vt:lpstr>
      <vt:lpstr>Creating Multiple Threads in Java</vt:lpstr>
      <vt:lpstr>Creating Multiple Threads in Java</vt:lpstr>
      <vt:lpstr>Creating Multiple Threads in Java</vt:lpstr>
      <vt:lpstr>Creating Multiple Threads in Java</vt:lpstr>
      <vt:lpstr>Creating Multiple Threads in Java</vt:lpstr>
      <vt:lpstr>Creating Multiple Threads in Java</vt:lpstr>
      <vt:lpstr>Creating Multiple Threads in Java</vt:lpstr>
      <vt:lpstr>Synchronization</vt:lpstr>
      <vt:lpstr>Synchronization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Multithreading</dc:title>
  <dc:creator>arti sonawane</dc:creator>
  <cp:lastModifiedBy>arti sonawane</cp:lastModifiedBy>
  <cp:revision>13</cp:revision>
  <dcterms:created xsi:type="dcterms:W3CDTF">2025-07-19T07:22:53Z</dcterms:created>
  <dcterms:modified xsi:type="dcterms:W3CDTF">2025-07-24T06:20:03Z</dcterms:modified>
</cp:coreProperties>
</file>