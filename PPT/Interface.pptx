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hG7tsh/hV3Qck1HOTFv8rl+ed5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Interface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Interface</a:t>
            </a:r>
            <a:endParaRPr/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interface in Java is </a:t>
            </a:r>
            <a:r>
              <a:rPr lang="en-US" i="1"/>
              <a:t>a </a:t>
            </a:r>
            <a:r>
              <a:rPr lang="en-US"/>
              <a:t>mechanism to achieve </a:t>
            </a:r>
            <a:r>
              <a:rPr lang="en-US" b="1"/>
              <a:t>abstraction.</a:t>
            </a:r>
            <a:r>
              <a:rPr lang="en-US"/>
              <a:t> 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There can be only </a:t>
            </a:r>
            <a:r>
              <a:rPr lang="en-US" b="1"/>
              <a:t>abstract methods </a:t>
            </a:r>
            <a:r>
              <a:rPr lang="en-US"/>
              <a:t>in the Java interface, not the method body.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It is used to achieve </a:t>
            </a:r>
            <a:r>
              <a:rPr lang="en-US" b="1"/>
              <a:t>multiple inheritances </a:t>
            </a:r>
            <a:r>
              <a:rPr lang="en-US"/>
              <a:t>in Java .</a:t>
            </a:r>
            <a:endParaRPr/>
          </a:p>
          <a:p>
            <a:pPr marL="342900" lvl="0" indent="-342900" algn="l" rtl="0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 b="1"/>
              <a:t>Syntax:</a:t>
            </a:r>
            <a:endParaRPr/>
          </a:p>
          <a:p>
            <a:pPr marL="742950" lvl="1" indent="-285750" algn="l" rtl="0">
              <a:spcBef>
                <a:spcPts val="408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lang="en-US" sz="2400" b="1">
                <a:solidFill>
                  <a:srgbClr val="C00000"/>
                </a:solidFill>
              </a:rPr>
              <a:t>interface</a:t>
            </a:r>
            <a:r>
              <a:rPr lang="en-US" sz="2400">
                <a:solidFill>
                  <a:srgbClr val="C00000"/>
                </a:solidFill>
              </a:rPr>
              <a:t> &lt;interface_name&gt;</a:t>
            </a:r>
            <a:endParaRPr/>
          </a:p>
          <a:p>
            <a:pPr marL="742950" lvl="1" indent="-285750" algn="l" rtl="0">
              <a:spcBef>
                <a:spcPts val="408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lang="en-US" sz="2400">
                <a:solidFill>
                  <a:srgbClr val="C00000"/>
                </a:solidFill>
              </a:rPr>
              <a:t>{  </a:t>
            </a:r>
            <a:endParaRPr/>
          </a:p>
          <a:p>
            <a:pPr marL="742950" lvl="1" indent="-285750" algn="l" rtl="0">
              <a:spcBef>
                <a:spcPts val="408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lang="en-US" sz="2400">
                <a:solidFill>
                  <a:srgbClr val="C00000"/>
                </a:solidFill>
              </a:rPr>
              <a:t>     // declare constant fields  </a:t>
            </a:r>
            <a:endParaRPr/>
          </a:p>
          <a:p>
            <a:pPr marL="742950" lvl="1" indent="-285750" algn="l" rtl="0">
              <a:spcBef>
                <a:spcPts val="408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lang="en-US" sz="2400">
                <a:solidFill>
                  <a:srgbClr val="C00000"/>
                </a:solidFill>
              </a:rPr>
              <a:t>    // declare methods that abstract   </a:t>
            </a:r>
            <a:endParaRPr/>
          </a:p>
          <a:p>
            <a:pPr marL="742950" lvl="1" indent="-285750" algn="l" rtl="0">
              <a:spcBef>
                <a:spcPts val="408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lang="en-US" sz="2400">
                <a:solidFill>
                  <a:srgbClr val="C00000"/>
                </a:solidFill>
              </a:rPr>
              <a:t>    // by default.  </a:t>
            </a:r>
            <a:endParaRPr/>
          </a:p>
          <a:p>
            <a:pPr marL="742950" lvl="1" indent="-285750" algn="l" rtl="0">
              <a:spcBef>
                <a:spcPts val="408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lang="en-US" sz="2400">
                <a:solidFill>
                  <a:srgbClr val="C00000"/>
                </a:solidFill>
              </a:rPr>
              <a:t>} </a:t>
            </a:r>
            <a:endParaRPr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Interface</a:t>
            </a:r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/>
              <a:t>Implementing Interface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To use an interface, a class must implement it using the </a:t>
            </a:r>
            <a:r>
              <a:rPr lang="en-US" b="1"/>
              <a:t>implements keyword</a:t>
            </a:r>
            <a:r>
              <a:rPr lang="en-US"/>
              <a:t>.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 </a:t>
            </a:r>
            <a:r>
              <a:rPr lang="en-US" b="1"/>
              <a:t>class can implement multiple interfaces</a:t>
            </a:r>
            <a:r>
              <a:rPr lang="en-US"/>
              <a:t>, separated by commas.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>
              <a:solidFill>
                <a:srgbClr val="C00000"/>
              </a:solidFill>
            </a:endParaRPr>
          </a:p>
        </p:txBody>
      </p:sp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4114800"/>
            <a:ext cx="6172200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Interface: Points to Remember</a:t>
            </a:r>
            <a:endParaRPr/>
          </a:p>
        </p:txBody>
      </p:sp>
      <p:sp>
        <p:nvSpPr>
          <p:cNvPr id="104" name="Google Shape;104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Interface </a:t>
            </a:r>
            <a:r>
              <a:rPr lang="en-US" b="1"/>
              <a:t>variable</a:t>
            </a:r>
            <a:r>
              <a:rPr lang="en-US"/>
              <a:t> is implicitly </a:t>
            </a:r>
            <a:r>
              <a:rPr lang="en-US" b="1"/>
              <a:t>public, static, and final.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Interface variables should always be declared and assigned a value. They </a:t>
            </a:r>
            <a:r>
              <a:rPr lang="en-US" b="1"/>
              <a:t>cannot be left uninitialized.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No access modifier is allowed except the public </a:t>
            </a:r>
            <a:r>
              <a:rPr lang="en-US"/>
              <a:t>for interface variables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Interface </a:t>
            </a:r>
            <a:r>
              <a:rPr lang="en-US" b="1"/>
              <a:t>methods</a:t>
            </a:r>
            <a:r>
              <a:rPr lang="en-US"/>
              <a:t> are by default </a:t>
            </a:r>
            <a:r>
              <a:rPr lang="en-US" b="1"/>
              <a:t>abstract</a:t>
            </a:r>
            <a:r>
              <a:rPr lang="en-US"/>
              <a:t> and </a:t>
            </a:r>
            <a:r>
              <a:rPr lang="en-US" b="1"/>
              <a:t>public.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On implementation of an interface, you </a:t>
            </a:r>
            <a:r>
              <a:rPr lang="en-US" b="1"/>
              <a:t>must override all of its methods.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Interfaces </a:t>
            </a:r>
            <a:r>
              <a:rPr lang="en-US" b="1"/>
              <a:t>cannot</a:t>
            </a:r>
            <a:r>
              <a:rPr lang="en-US"/>
              <a:t> be used to create objects</a:t>
            </a:r>
            <a:endParaRPr b="1"/>
          </a:p>
          <a:p>
            <a:pPr marL="342900" lvl="0" indent="-17018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Variables in Interfaces</a:t>
            </a:r>
            <a:endParaRPr/>
          </a:p>
        </p:txBody>
      </p:sp>
      <p:pic>
        <p:nvPicPr>
          <p:cNvPr id="110" name="Google Shape;110;p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2133600"/>
            <a:ext cx="6934200" cy="2563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Extending Interface</a:t>
            </a:r>
            <a:endParaRPr/>
          </a:p>
        </p:txBody>
      </p:sp>
      <p:sp>
        <p:nvSpPr>
          <p:cNvPr id="116" name="Google Shape;116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/>
              <a:t>Interfaces can be extended </a:t>
            </a:r>
            <a:r>
              <a:rPr lang="en-US"/>
              <a:t>similar to the classes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An interface can </a:t>
            </a:r>
            <a:r>
              <a:rPr lang="en-US" b="1"/>
              <a:t>extend multiple interfaces</a:t>
            </a:r>
            <a:r>
              <a:rPr lang="en-US"/>
              <a:t>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An interface can </a:t>
            </a:r>
            <a:r>
              <a:rPr lang="en-US" b="1"/>
              <a:t>implement neither an interface nor a class</a:t>
            </a:r>
            <a:r>
              <a:rPr lang="en-US"/>
              <a:t>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An interface is </a:t>
            </a:r>
            <a:r>
              <a:rPr lang="en-US" b="1"/>
              <a:t>not extended by a class</a:t>
            </a:r>
            <a:r>
              <a:rPr lang="en-US"/>
              <a:t>; it is </a:t>
            </a:r>
            <a:r>
              <a:rPr lang="en-US" b="1"/>
              <a:t>implemented by a class.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Extending Interface</a:t>
            </a:r>
            <a:endParaRPr/>
          </a:p>
        </p:txBody>
      </p:sp>
      <p:sp>
        <p:nvSpPr>
          <p:cNvPr id="122" name="Google Shape;122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/>
              <a:t>Syntax: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</a:t>
            </a:r>
            <a:r>
              <a:rPr lang="en-US" sz="2400" b="1">
                <a:solidFill>
                  <a:srgbClr val="C00000"/>
                </a:solidFill>
              </a:rPr>
              <a:t>interface</a:t>
            </a:r>
            <a:r>
              <a:rPr lang="en-US" sz="2400">
                <a:solidFill>
                  <a:srgbClr val="C00000"/>
                </a:solidFill>
              </a:rPr>
              <a:t> interface_name2 </a:t>
            </a:r>
            <a:r>
              <a:rPr lang="en-US" sz="2400" b="1">
                <a:solidFill>
                  <a:srgbClr val="C00000"/>
                </a:solidFill>
              </a:rPr>
              <a:t>extends</a:t>
            </a:r>
            <a:r>
              <a:rPr lang="en-US" sz="2400">
                <a:solidFill>
                  <a:srgbClr val="C00000"/>
                </a:solidFill>
              </a:rPr>
              <a:t> interface_name1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None/>
            </a:pPr>
            <a:r>
              <a:rPr lang="en-US" sz="2400">
                <a:solidFill>
                  <a:srgbClr val="C00000"/>
                </a:solidFill>
              </a:rPr>
              <a:t>	{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None/>
            </a:pPr>
            <a:r>
              <a:rPr lang="en-US" sz="2400">
                <a:solidFill>
                  <a:srgbClr val="C00000"/>
                </a:solidFill>
              </a:rPr>
              <a:t>		……// body of interface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None/>
            </a:pPr>
            <a:r>
              <a:rPr lang="en-US" sz="2400">
                <a:solidFill>
                  <a:srgbClr val="C00000"/>
                </a:solidFill>
              </a:rPr>
              <a:t>	}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Extending Interface</a:t>
            </a:r>
            <a:endParaRPr/>
          </a:p>
        </p:txBody>
      </p:sp>
      <p:pic>
        <p:nvPicPr>
          <p:cNvPr id="128" name="Google Shape;128;p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524000"/>
            <a:ext cx="55626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8"/>
          <p:cNvSpPr txBox="1"/>
          <p:nvPr/>
        </p:nvSpPr>
        <p:spPr>
          <a:xfrm>
            <a:off x="5943600" y="5486400"/>
            <a:ext cx="16764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funcA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funcB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Assignments</a:t>
            </a:r>
            <a:endParaRPr dirty="0"/>
          </a:p>
        </p:txBody>
      </p:sp>
      <p:sp>
        <p:nvSpPr>
          <p:cNvPr id="135" name="Google Shape;135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60400" lvl="0" indent="-457200">
              <a:spcBef>
                <a:spcPts val="0"/>
              </a:spcBef>
              <a:buSzPts val="3200"/>
              <a:buFont typeface="Arial" panose="020B0604020202020204" pitchFamily="34" charset="0"/>
              <a:buChar char="•"/>
            </a:pPr>
            <a:r>
              <a:rPr lang="en-US" dirty="0"/>
              <a:t>Create an interface </a:t>
            </a:r>
            <a:r>
              <a:rPr lang="en-US" b="1" dirty="0"/>
              <a:t>animal</a:t>
            </a:r>
            <a:r>
              <a:rPr lang="en-US" dirty="0"/>
              <a:t> with method </a:t>
            </a:r>
            <a:r>
              <a:rPr lang="en-US" b="1" dirty="0" err="1"/>
              <a:t>makeSound</a:t>
            </a:r>
            <a:r>
              <a:rPr lang="en-US" b="1" dirty="0"/>
              <a:t>.</a:t>
            </a:r>
            <a:r>
              <a:rPr lang="en-US" dirty="0"/>
              <a:t> Implement it in class </a:t>
            </a:r>
            <a:r>
              <a:rPr lang="en-US" b="1" dirty="0"/>
              <a:t>Cat, Dog and Cow.</a:t>
            </a:r>
            <a:r>
              <a:rPr lang="en-US" dirty="0"/>
              <a:t> Call the method using interface references to print respective sounds.</a:t>
            </a:r>
          </a:p>
          <a:p>
            <a:pPr marL="660400" lvl="0" indent="-457200">
              <a:spcBef>
                <a:spcPts val="0"/>
              </a:spcBef>
              <a:buSzPts val="3200"/>
              <a:buFont typeface="Arial" panose="020B0604020202020204" pitchFamily="34" charset="0"/>
              <a:buChar char="•"/>
            </a:pPr>
            <a:r>
              <a:rPr lang="en-US" dirty="0"/>
              <a:t>Create an interface </a:t>
            </a:r>
            <a:r>
              <a:rPr lang="en-US" b="1" dirty="0"/>
              <a:t>Shape</a:t>
            </a:r>
            <a:r>
              <a:rPr lang="en-US" dirty="0"/>
              <a:t> with a method </a:t>
            </a:r>
            <a:r>
              <a:rPr lang="en-US" b="1" dirty="0"/>
              <a:t>double </a:t>
            </a:r>
            <a:r>
              <a:rPr lang="en-US" b="1" dirty="0" err="1"/>
              <a:t>getArea</a:t>
            </a:r>
            <a:r>
              <a:rPr lang="en-US" b="1" dirty="0"/>
              <a:t>(). </a:t>
            </a:r>
            <a:r>
              <a:rPr lang="en-US" dirty="0"/>
              <a:t>Implement this interface in classes </a:t>
            </a:r>
            <a:r>
              <a:rPr lang="en-US" b="1" dirty="0"/>
              <a:t>Circle, Rectangle and Triangle</a:t>
            </a:r>
            <a:r>
              <a:rPr lang="en-US" dirty="0"/>
              <a:t>. Call the method and displaying their areas.</a:t>
            </a:r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Define an interface </a:t>
            </a:r>
            <a:r>
              <a:rPr lang="en-IN" b="1" dirty="0"/>
              <a:t>Order</a:t>
            </a:r>
            <a:r>
              <a:rPr lang="en-IN" dirty="0"/>
              <a:t> with methods </a:t>
            </a:r>
            <a:r>
              <a:rPr lang="en-IN" b="1" dirty="0"/>
              <a:t>placeOrder</a:t>
            </a:r>
            <a:r>
              <a:rPr lang="en-IN" dirty="0"/>
              <a:t> and </a:t>
            </a:r>
            <a:r>
              <a:rPr lang="en-IN" b="1" dirty="0"/>
              <a:t>cancelOrder.</a:t>
            </a:r>
            <a:r>
              <a:rPr lang="en-IN" dirty="0"/>
              <a:t> Implement it in classes </a:t>
            </a:r>
            <a:r>
              <a:rPr lang="en-IN" b="1" dirty="0"/>
              <a:t>GroceryOrder </a:t>
            </a:r>
            <a:r>
              <a:rPr lang="en-IN" dirty="0"/>
              <a:t>and </a:t>
            </a:r>
            <a:r>
              <a:rPr lang="en-IN" b="1" dirty="0"/>
              <a:t>ClothingOrder</a:t>
            </a:r>
            <a:r>
              <a:rPr lang="en-IN" dirty="0"/>
              <a:t>. </a:t>
            </a:r>
            <a:r>
              <a:rPr lang="en-US" dirty="0"/>
              <a:t>Simulate order placing and canceling using user input.</a:t>
            </a:r>
            <a:endParaRPr lang="en-IN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Keyword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is mainly used for </a:t>
            </a:r>
            <a:r>
              <a:rPr lang="en-US" b="1" dirty="0"/>
              <a:t>memory management.</a:t>
            </a:r>
          </a:p>
          <a:p>
            <a:r>
              <a:rPr lang="en-US" dirty="0"/>
              <a:t>The static keyword </a:t>
            </a:r>
            <a:r>
              <a:rPr lang="en-US" b="1" dirty="0"/>
              <a:t>belongs to the class rather than an instance of the class</a:t>
            </a:r>
            <a:r>
              <a:rPr lang="en-US" dirty="0"/>
              <a:t>.</a:t>
            </a:r>
          </a:p>
          <a:p>
            <a:r>
              <a:rPr lang="en-US" dirty="0"/>
              <a:t>The static keyword is used to share the same variable or method of a given class.</a:t>
            </a:r>
          </a:p>
          <a:p>
            <a:r>
              <a:rPr lang="en-US" dirty="0"/>
              <a:t>It can be used for </a:t>
            </a:r>
            <a:r>
              <a:rPr lang="en-US" b="1" dirty="0"/>
              <a:t>variables, methods, blocks, and nested classes.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Keyword: Characteristics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Static members </a:t>
            </a:r>
            <a:r>
              <a:rPr lang="en-US" b="1" dirty="0"/>
              <a:t>can not access non-static members.</a:t>
            </a:r>
          </a:p>
          <a:p>
            <a:pPr fontAlgn="base"/>
            <a:r>
              <a:rPr lang="en-US" dirty="0"/>
              <a:t>We </a:t>
            </a:r>
            <a:r>
              <a:rPr lang="en-US" b="1" dirty="0"/>
              <a:t>do not need to create objects </a:t>
            </a:r>
            <a:r>
              <a:rPr lang="en-US" dirty="0"/>
              <a:t>of the class to use static methods</a:t>
            </a:r>
          </a:p>
          <a:p>
            <a:pPr fontAlgn="base"/>
            <a:r>
              <a:rPr lang="en-US" dirty="0"/>
              <a:t>We can </a:t>
            </a:r>
            <a:r>
              <a:rPr lang="en-US" b="1" dirty="0"/>
              <a:t>call static members using the class name directly</a:t>
            </a:r>
            <a:r>
              <a:rPr lang="en-US" dirty="0"/>
              <a:t>.</a:t>
            </a:r>
          </a:p>
          <a:p>
            <a:r>
              <a:rPr lang="en-US" dirty="0"/>
              <a:t>Static methods </a:t>
            </a:r>
            <a:r>
              <a:rPr lang="en-US" b="1" dirty="0"/>
              <a:t>cannot be overridden </a:t>
            </a:r>
            <a:r>
              <a:rPr lang="en-US" dirty="0"/>
              <a:t>in subclasses because they belong to the class, not to an object.</a:t>
            </a:r>
          </a:p>
          <a:p>
            <a:endParaRPr lang="en-US" b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Variable(Class Variable)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 </a:t>
            </a:r>
            <a:r>
              <a:rPr lang="en-US" b="1" dirty="0"/>
              <a:t>single copy of the static variable </a:t>
            </a:r>
            <a:r>
              <a:rPr lang="en-US" dirty="0"/>
              <a:t>is created and </a:t>
            </a:r>
            <a:r>
              <a:rPr lang="en-US" b="1" dirty="0"/>
              <a:t>shared among all objects </a:t>
            </a:r>
            <a:r>
              <a:rPr lang="en-US" dirty="0"/>
              <a:t>at the class level. </a:t>
            </a:r>
          </a:p>
          <a:p>
            <a:r>
              <a:rPr lang="en-US" b="1" dirty="0"/>
              <a:t>Memory is allocated </a:t>
            </a:r>
            <a:r>
              <a:rPr lang="en-US" dirty="0"/>
              <a:t>only once, at the </a:t>
            </a:r>
            <a:r>
              <a:rPr lang="en-US" b="1" dirty="0"/>
              <a:t>time of class loading.</a:t>
            </a:r>
          </a:p>
          <a:p>
            <a:r>
              <a:rPr lang="en-US" b="1" dirty="0"/>
              <a:t>Static variables </a:t>
            </a:r>
            <a:r>
              <a:rPr lang="en-US" dirty="0"/>
              <a:t>are, essentially, </a:t>
            </a:r>
            <a:r>
              <a:rPr lang="en-US" b="1" dirty="0"/>
              <a:t>global variables</a:t>
            </a:r>
          </a:p>
          <a:p>
            <a:r>
              <a:rPr lang="en-US" dirty="0"/>
              <a:t>We can create static variables at the </a:t>
            </a:r>
            <a:r>
              <a:rPr lang="en-US" b="1" dirty="0"/>
              <a:t>class level only.</a:t>
            </a:r>
          </a:p>
          <a:p>
            <a:r>
              <a:rPr lang="en-US" dirty="0"/>
              <a:t>You can call a static variable using </a:t>
            </a:r>
            <a:r>
              <a:rPr lang="en-US" dirty="0">
                <a:solidFill>
                  <a:schemeClr val="accent2"/>
                </a:solidFill>
              </a:rPr>
              <a:t>ClassName.variableName.</a:t>
            </a:r>
          </a:p>
          <a:p>
            <a:endParaRPr lang="en-US" b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Variable(Class Variable)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</a:t>
            </a:r>
          </a:p>
          <a:p>
            <a:pPr lvl="1">
              <a:buNone/>
            </a:pPr>
            <a:r>
              <a:rPr lang="en-US" sz="2400" dirty="0">
                <a:solidFill>
                  <a:schemeClr val="accent2"/>
                </a:solidFill>
              </a:rPr>
              <a:t>class Counter </a:t>
            </a:r>
          </a:p>
          <a:p>
            <a:pPr lvl="1">
              <a:buNone/>
            </a:pPr>
            <a:r>
              <a:rPr lang="en-US" sz="2400" dirty="0">
                <a:solidFill>
                  <a:schemeClr val="accent2"/>
                </a:solidFill>
              </a:rPr>
              <a:t>{</a:t>
            </a:r>
          </a:p>
          <a:p>
            <a:pPr lvl="1">
              <a:buNone/>
            </a:pPr>
            <a:r>
              <a:rPr lang="en-US" sz="2400" dirty="0">
                <a:solidFill>
                  <a:schemeClr val="accent2"/>
                </a:solidFill>
              </a:rPr>
              <a:t>    static int count = 0; // </a:t>
            </a:r>
            <a:r>
              <a:rPr lang="en-US" sz="2400" dirty="0">
                <a:solidFill>
                  <a:schemeClr val="tx1"/>
                </a:solidFill>
              </a:rPr>
              <a:t>static variable</a:t>
            </a:r>
          </a:p>
          <a:p>
            <a:pPr lvl="1">
              <a:buNone/>
            </a:pPr>
            <a:r>
              <a:rPr lang="en-US" sz="2400" dirty="0">
                <a:solidFill>
                  <a:schemeClr val="accent2"/>
                </a:solidFill>
              </a:rPr>
              <a:t>     Counter() </a:t>
            </a:r>
          </a:p>
          <a:p>
            <a:pPr lvl="1">
              <a:buNone/>
            </a:pPr>
            <a:r>
              <a:rPr lang="en-US" sz="2400" dirty="0">
                <a:solidFill>
                  <a:schemeClr val="accent2"/>
                </a:solidFill>
              </a:rPr>
              <a:t>    {</a:t>
            </a:r>
          </a:p>
          <a:p>
            <a:pPr lvl="1">
              <a:buNone/>
            </a:pPr>
            <a:r>
              <a:rPr lang="en-US" sz="2400" dirty="0">
                <a:solidFill>
                  <a:schemeClr val="accent2"/>
                </a:solidFill>
              </a:rPr>
              <a:t>         count++;</a:t>
            </a:r>
          </a:p>
          <a:p>
            <a:pPr lvl="1">
              <a:buNone/>
            </a:pPr>
            <a:r>
              <a:rPr lang="en-US" sz="2400" dirty="0">
                <a:solidFill>
                  <a:schemeClr val="accent2"/>
                </a:solidFill>
              </a:rPr>
              <a:t>         System.out.println(count);</a:t>
            </a:r>
          </a:p>
          <a:p>
            <a:pPr lvl="1">
              <a:buNone/>
            </a:pPr>
            <a:r>
              <a:rPr lang="en-US" sz="2400" dirty="0">
                <a:solidFill>
                  <a:schemeClr val="accent2"/>
                </a:solidFill>
              </a:rPr>
              <a:t>    }</a:t>
            </a:r>
          </a:p>
          <a:p>
            <a:pPr lvl="1">
              <a:buNone/>
            </a:pPr>
            <a:r>
              <a:rPr lang="en-US" sz="2400" dirty="0">
                <a:solidFill>
                  <a:schemeClr val="accent2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Method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Belong to the class</a:t>
            </a:r>
            <a:r>
              <a:rPr lang="en-US" dirty="0"/>
              <a:t>, not instances.</a:t>
            </a:r>
          </a:p>
          <a:p>
            <a:r>
              <a:rPr lang="en-US" dirty="0"/>
              <a:t>Can be </a:t>
            </a:r>
            <a:r>
              <a:rPr lang="en-US" b="1" dirty="0"/>
              <a:t>called without creating an object </a:t>
            </a:r>
            <a:r>
              <a:rPr lang="en-US" dirty="0"/>
              <a:t>of the class.</a:t>
            </a:r>
          </a:p>
          <a:p>
            <a:r>
              <a:rPr lang="en-US" dirty="0"/>
              <a:t>Static methods </a:t>
            </a:r>
            <a:r>
              <a:rPr lang="en-US" b="1" dirty="0"/>
              <a:t>cannot use </a:t>
            </a:r>
            <a:r>
              <a:rPr lang="en-US" b="1" dirty="0">
                <a:solidFill>
                  <a:schemeClr val="accent2"/>
                </a:solidFill>
              </a:rPr>
              <a:t>this</a:t>
            </a:r>
            <a:r>
              <a:rPr lang="en-US" b="1" dirty="0"/>
              <a:t> or </a:t>
            </a:r>
            <a:r>
              <a:rPr lang="en-US" b="1" dirty="0">
                <a:solidFill>
                  <a:schemeClr val="accent2"/>
                </a:solidFill>
              </a:rPr>
              <a:t>super</a:t>
            </a:r>
            <a:r>
              <a:rPr lang="en-US" b="1" dirty="0"/>
              <a:t> keyword.</a:t>
            </a:r>
          </a:p>
          <a:p>
            <a:r>
              <a:rPr lang="en-US" dirty="0"/>
              <a:t>You can call a static method using </a:t>
            </a:r>
            <a:r>
              <a:rPr lang="en-US" dirty="0">
                <a:solidFill>
                  <a:schemeClr val="accent2"/>
                </a:solidFill>
              </a:rPr>
              <a:t>ClassName.methodName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Method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6935" y="2363372"/>
            <a:ext cx="3986653" cy="232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Block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to initialize static variables.</a:t>
            </a:r>
          </a:p>
          <a:p>
            <a:r>
              <a:rPr lang="en-US" dirty="0"/>
              <a:t>Executed only once when the class is loaded.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4229" y="3094891"/>
            <a:ext cx="5880294" cy="2883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Class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class can be made </a:t>
            </a:r>
            <a:r>
              <a:rPr lang="en-US" b="1" dirty="0"/>
              <a:t>static</a:t>
            </a:r>
            <a:r>
              <a:rPr lang="en-US" dirty="0"/>
              <a:t> only if it is a nested class</a:t>
            </a:r>
          </a:p>
          <a:p>
            <a:r>
              <a:rPr lang="en-US" dirty="0"/>
              <a:t>We cannot declare a top-level class with a static modifier.</a:t>
            </a:r>
          </a:p>
          <a:p>
            <a:r>
              <a:rPr lang="en-US" dirty="0"/>
              <a:t>A static class </a:t>
            </a:r>
            <a:r>
              <a:rPr lang="en-US" b="1" dirty="0"/>
              <a:t>cannot access non-static members of the Outer class</a:t>
            </a:r>
            <a:r>
              <a:rPr lang="en-US" dirty="0"/>
              <a:t>. 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Class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67618" y="2433711"/>
            <a:ext cx="5880296" cy="270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Create a class </a:t>
            </a:r>
            <a:r>
              <a:rPr lang="en-US" b="1" dirty="0"/>
              <a:t>Employee</a:t>
            </a:r>
            <a:r>
              <a:rPr lang="en-US" dirty="0"/>
              <a:t> with:</a:t>
            </a:r>
          </a:p>
          <a:p>
            <a:pPr lvl="1"/>
            <a:r>
              <a:rPr lang="en-US" dirty="0"/>
              <a:t>A static variable </a:t>
            </a:r>
            <a:r>
              <a:rPr lang="en-US" b="1" dirty="0"/>
              <a:t>companyName</a:t>
            </a:r>
          </a:p>
          <a:p>
            <a:pPr lvl="1"/>
            <a:r>
              <a:rPr lang="en-US" dirty="0"/>
              <a:t>A non-static variable </a:t>
            </a:r>
            <a:r>
              <a:rPr lang="en-US" b="1" dirty="0"/>
              <a:t>employeeName</a:t>
            </a:r>
          </a:p>
          <a:p>
            <a:pPr lvl="1"/>
            <a:r>
              <a:rPr lang="en-US" dirty="0"/>
              <a:t>A method </a:t>
            </a:r>
            <a:r>
              <a:rPr lang="en-US" b="1" dirty="0"/>
              <a:t>display(</a:t>
            </a:r>
            <a:r>
              <a:rPr lang="en-US" dirty="0"/>
              <a:t>) that prints both values.</a:t>
            </a:r>
          </a:p>
          <a:p>
            <a:pPr lvl="1"/>
            <a:r>
              <a:rPr lang="en-US" dirty="0"/>
              <a:t>Create two objects of Employee with different names and call display()</a:t>
            </a:r>
          </a:p>
          <a:p>
            <a:r>
              <a:rPr lang="en-US" dirty="0"/>
              <a:t>Create a class </a:t>
            </a:r>
            <a:r>
              <a:rPr lang="en-US" b="1" dirty="0"/>
              <a:t>AreaCalculator</a:t>
            </a:r>
            <a:r>
              <a:rPr lang="en-US" dirty="0"/>
              <a:t> with static methods:</a:t>
            </a:r>
          </a:p>
          <a:p>
            <a:pPr lvl="1"/>
            <a:r>
              <a:rPr lang="en-US" b="1" dirty="0"/>
              <a:t>areaOfCircle</a:t>
            </a:r>
            <a:r>
              <a:rPr lang="en-US" dirty="0"/>
              <a:t>(double radius)</a:t>
            </a:r>
          </a:p>
          <a:p>
            <a:pPr lvl="1"/>
            <a:r>
              <a:rPr lang="en-US" b="1" dirty="0"/>
              <a:t>areaOfRectangle</a:t>
            </a:r>
            <a:r>
              <a:rPr lang="en-US" dirty="0"/>
              <a:t>(double length, double width)</a:t>
            </a:r>
            <a:br>
              <a:rPr lang="en-US" dirty="0"/>
            </a:br>
            <a:r>
              <a:rPr lang="en-US" dirty="0"/>
              <a:t>Call these methods from the main() method to display areas.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6616" y="1609344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Create a </a:t>
            </a:r>
            <a:r>
              <a:rPr lang="en-US" b="1" dirty="0"/>
              <a:t>Book</a:t>
            </a:r>
            <a:r>
              <a:rPr lang="en-US" dirty="0"/>
              <a:t> class with a </a:t>
            </a:r>
            <a:r>
              <a:rPr lang="en-US" b="1" dirty="0"/>
              <a:t>static variable totalBooksIssued</a:t>
            </a:r>
            <a:r>
              <a:rPr lang="en-US" dirty="0"/>
              <a:t>. Each time a book is issued (via a method </a:t>
            </a:r>
            <a:r>
              <a:rPr lang="en-US" b="1" dirty="0"/>
              <a:t>issueBook()</a:t>
            </a:r>
            <a:r>
              <a:rPr lang="en-US" dirty="0"/>
              <a:t>), increment this counter. Display the total number of books issued using a static method </a:t>
            </a:r>
            <a:r>
              <a:rPr lang="en-US" b="1" dirty="0"/>
              <a:t>getTotalIssued()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771</Words>
  <Application>Microsoft Office PowerPoint</Application>
  <PresentationFormat>On-screen Show (4:3)</PresentationFormat>
  <Paragraphs>98</Paragraphs>
  <Slides>21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Interface</vt:lpstr>
      <vt:lpstr>Interface</vt:lpstr>
      <vt:lpstr>Interface</vt:lpstr>
      <vt:lpstr>Interface: Points to Remember</vt:lpstr>
      <vt:lpstr>Variables in Interfaces</vt:lpstr>
      <vt:lpstr>Extending Interface</vt:lpstr>
      <vt:lpstr>Extending Interface</vt:lpstr>
      <vt:lpstr>Extending Interface</vt:lpstr>
      <vt:lpstr>Assignments</vt:lpstr>
      <vt:lpstr>Assignments</vt:lpstr>
      <vt:lpstr>Static Keyword</vt:lpstr>
      <vt:lpstr>Static Keyword: Characteristics</vt:lpstr>
      <vt:lpstr>Static Variable(Class Variable)</vt:lpstr>
      <vt:lpstr>Static Variable(Class Variable)</vt:lpstr>
      <vt:lpstr>Static Method</vt:lpstr>
      <vt:lpstr>Static Method</vt:lpstr>
      <vt:lpstr>Static Block</vt:lpstr>
      <vt:lpstr>Static Class</vt:lpstr>
      <vt:lpstr>Static Class</vt:lpstr>
      <vt:lpstr>Assignments</vt:lpstr>
      <vt:lpstr>Assignments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Interface</dc:title>
  <dc:creator>admin</dc:creator>
  <cp:lastModifiedBy>BCOD1 TEJAS SANTOSH NALAWADE</cp:lastModifiedBy>
  <cp:revision>14</cp:revision>
  <dcterms:created xsi:type="dcterms:W3CDTF">2006-08-16T00:00:00Z</dcterms:created>
  <dcterms:modified xsi:type="dcterms:W3CDTF">2026-07-14T18:02:43Z</dcterms:modified>
</cp:coreProperties>
</file>